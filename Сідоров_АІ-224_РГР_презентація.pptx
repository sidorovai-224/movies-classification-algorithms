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eb537c63e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eb537c63e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b537c63e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b537c63e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b537c63e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b537c63e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b4e6da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b4e6da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b4e6daa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b4e6daa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b4e6daa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b4e6daa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b4e6daa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b4e6daa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b4e6daa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b4e6daa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4e6daa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b4e6daa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b4e6daa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b4e6da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ab4e6daa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ab4e6daa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ab4e6daa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ab4e6daa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4e6daa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ab4e6daa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ab4e6daa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ab4e6daa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4e6daa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b4e6daa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ab4e6daa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ab4e6daa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ab4e6daa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ab4e6daa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ab4e6daa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ab4e6daa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ab4e6daa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ab4e6daa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ab4e6daa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ab4e6daa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4e6daa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ab4e6daa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b4e6daa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ab4e6daa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ab4e6daa5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ab4e6daa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613806" y="993183"/>
            <a:ext cx="4471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9813"/>
              </a:buClr>
              <a:buSzPts val="4500"/>
              <a:buFont typeface="Arial"/>
              <a:buNone/>
              <a:defRPr sz="4500">
                <a:solidFill>
                  <a:srgbClr val="CB981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13806" y="2852939"/>
            <a:ext cx="4471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613806" y="993183"/>
            <a:ext cx="44718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Розрахунково-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графічна робота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613800" y="2852955"/>
            <a:ext cx="4471800" cy="179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Методи та системи штучного інтелекту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підготував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студент групи АІ-224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Сідоров Денис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Моделювання задачі класифікації фільмів онлайн-кінотеатру за ознаками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accent1"/>
                </a:solidFill>
              </a:rPr>
              <a:t>Тема роботи</a:t>
            </a:r>
            <a:endParaRPr sz="2100">
              <a:solidFill>
                <a:schemeClr val="accent1"/>
              </a:solidFill>
            </a:endParaRPr>
          </a:p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Розробка системи для прогнозування бюджету фільму на основі непрямих даних. Навчання моделі за допомогою Machine Learning.</a:t>
            </a:r>
            <a:endParaRPr/>
          </a:p>
        </p:txBody>
      </p:sp>
      <p:sp>
        <p:nvSpPr>
          <p:cNvPr id="99" name="Google Shape;99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accent1"/>
                </a:solidFill>
              </a:rPr>
              <a:t>Мета роботи</a:t>
            </a:r>
            <a:endParaRPr sz="2100">
              <a:solidFill>
                <a:schemeClr val="accent1"/>
              </a:solidFill>
            </a:endParaRPr>
          </a:p>
        </p:txBody>
      </p:sp>
      <p:sp>
        <p:nvSpPr>
          <p:cNvPr id="100" name="Google Shape;100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Закріплення знань та навичок по рішенню задач класифікації, регресії, прогнозування и кластеризації слабко структурованих вхідних даних за допомогою машинного навчання.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Вхідні дані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>
                <a:solidFill>
                  <a:schemeClr val="accent1"/>
                </a:solidFill>
              </a:rPr>
              <a:t>genres</a:t>
            </a:r>
            <a:r>
              <a:rPr lang="ru" sz="1800"/>
              <a:t> (жанри – категоріальна змінна, яка в процесі роботи буде розбита і перетворена на числову</a:t>
            </a:r>
            <a:r>
              <a:rPr lang="ru" sz="1800"/>
              <a:t>)</a:t>
            </a:r>
            <a:r>
              <a:rPr lang="ru" sz="1800"/>
              <a:t>;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>
                <a:solidFill>
                  <a:schemeClr val="accent1"/>
                </a:solidFill>
              </a:rPr>
              <a:t>production_countries</a:t>
            </a:r>
            <a:r>
              <a:rPr lang="ru" sz="1800"/>
              <a:t> (країни виробництва – категоріальна змінна, яка в процесі роботи буде розбита і перетворена на числову);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>
                <a:solidFill>
                  <a:schemeClr val="accent1"/>
                </a:solidFill>
              </a:rPr>
              <a:t>production_companies</a:t>
            </a:r>
            <a:r>
              <a:rPr lang="ru" sz="1800"/>
              <a:t> </a:t>
            </a:r>
            <a:r>
              <a:rPr lang="ru" sz="1800"/>
              <a:t>(компанії-виробники – категоріальна змінна, яка в процесі роботи буде розбита і перетворена на числову);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>
                <a:solidFill>
                  <a:schemeClr val="accent1"/>
                </a:solidFill>
              </a:rPr>
              <a:t>runtime</a:t>
            </a:r>
            <a:r>
              <a:rPr lang="ru" sz="1800"/>
              <a:t> (тривалість фільмів – невідʼємна числова змінна).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>
                <a:solidFill>
                  <a:schemeClr val="accent1"/>
                </a:solidFill>
              </a:rPr>
              <a:t>budget</a:t>
            </a:r>
            <a:r>
              <a:rPr lang="ru" sz="1800"/>
              <a:t> (бюджет – невідʼємна числова змінна)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6915500" y="295186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010925" y="295186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106350" y="295186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915650" y="87341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010925" y="87341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106200" y="873413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Класи оцінки бюджету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6840725" y="2010600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бюджет від 15 до 25 мільйонів</a:t>
            </a:r>
            <a:endParaRPr sz="1800"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3936225" y="2010600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бюджет від 5 до 15 мільйонів </a:t>
            </a:r>
            <a:endParaRPr sz="1800"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1031725" y="2010600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бюджет менше 5 мільйонів</a:t>
            </a:r>
            <a:endParaRPr sz="1800"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6840725" y="4147775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бюджет більше 100 мільйонів</a:t>
            </a:r>
            <a:endParaRPr sz="1800"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3936225" y="4147775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бюджет від 50 до 100 мільйонів </a:t>
            </a:r>
            <a:endParaRPr sz="1800"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1031725" y="4147775"/>
            <a:ext cx="1271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бюджет від 25 до 50 мільйонів</a:t>
            </a:r>
            <a:endParaRPr sz="1800"/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1106200" y="1142225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F tier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17"/>
          <p:cNvSpPr txBox="1"/>
          <p:nvPr>
            <p:ph type="title"/>
          </p:nvPr>
        </p:nvSpPr>
        <p:spPr>
          <a:xfrm>
            <a:off x="4010850" y="1142225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D tier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915500" y="1142225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C tier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106275" y="3220663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B tier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4010925" y="3220663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A tier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17"/>
          <p:cNvSpPr txBox="1"/>
          <p:nvPr>
            <p:ph type="title"/>
          </p:nvPr>
        </p:nvSpPr>
        <p:spPr>
          <a:xfrm>
            <a:off x="6915575" y="3220663"/>
            <a:ext cx="11223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S tier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Вхідні дані</a:t>
            </a:r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88" y="1017275"/>
            <a:ext cx="7630026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Робочий простір Orange</a:t>
            </a:r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2200" l="0" r="0" t="0"/>
          <a:stretch/>
        </p:blipFill>
        <p:spPr>
          <a:xfrm>
            <a:off x="1800225" y="858550"/>
            <a:ext cx="5543550" cy="428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Налаштування вхідних колонок</a:t>
            </a:r>
            <a:endParaRPr/>
          </a:p>
        </p:txBody>
      </p:sp>
      <p:pic>
        <p:nvPicPr>
          <p:cNvPr id="147" name="Google Shape;147;p20" title="Снимок экрана 2025-11-28 в 16.30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713" y="915694"/>
            <a:ext cx="4146574" cy="398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Логістична регресія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20788"/>
            <a:ext cx="2518400" cy="29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idx="4294967295" type="body"/>
          </p:nvPr>
        </p:nvSpPr>
        <p:spPr>
          <a:xfrm>
            <a:off x="3750216" y="1120806"/>
            <a:ext cx="38682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Після проведення експериментів, у віджеті логістичної регресії було встановлено регуляризацію </a:t>
            </a:r>
            <a:r>
              <a:rPr lang="ru">
                <a:solidFill>
                  <a:schemeClr val="accent1"/>
                </a:solidFill>
              </a:rPr>
              <a:t>Lasso (L1)</a:t>
            </a:r>
            <a:r>
              <a:rPr lang="ru"/>
              <a:t>, яка обнуляє менш важливі ваги, виконуючи відбір ознак. Параметр </a:t>
            </a:r>
            <a:r>
              <a:rPr lang="ru">
                <a:solidFill>
                  <a:schemeClr val="accent1"/>
                </a:solidFill>
              </a:rPr>
              <a:t>C=1</a:t>
            </a:r>
            <a:r>
              <a:rPr lang="ru"/>
              <a:t> задає середню силу регуляризації.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Нейронна мережа</a:t>
            </a:r>
            <a:endParaRPr/>
          </a:p>
        </p:txBody>
      </p:sp>
      <p:sp>
        <p:nvSpPr>
          <p:cNvPr id="160" name="Google Shape;160;p22"/>
          <p:cNvSpPr txBox="1"/>
          <p:nvPr>
            <p:ph idx="4294967295" type="body"/>
          </p:nvPr>
        </p:nvSpPr>
        <p:spPr>
          <a:xfrm>
            <a:off x="3750216" y="1120806"/>
            <a:ext cx="38682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Для нейронної мережі було задано </a:t>
            </a:r>
            <a:r>
              <a:rPr lang="ru">
                <a:solidFill>
                  <a:schemeClr val="accent1"/>
                </a:solidFill>
              </a:rPr>
              <a:t>два приховані шари з кількістю нейронів 10 і 5 </a:t>
            </a:r>
            <a:r>
              <a:rPr lang="ru"/>
              <a:t>відповідно. </a:t>
            </a:r>
            <a:r>
              <a:rPr lang="ru">
                <a:solidFill>
                  <a:schemeClr val="accent1"/>
                </a:solidFill>
              </a:rPr>
              <a:t>ReLU</a:t>
            </a:r>
            <a:r>
              <a:rPr lang="ru"/>
              <a:t> використовується як функція активації, яка добре працює з нелінійностями та пришвидшує навчання. </a:t>
            </a:r>
            <a:r>
              <a:rPr lang="ru">
                <a:solidFill>
                  <a:schemeClr val="accent1"/>
                </a:solidFill>
              </a:rPr>
              <a:t>Solver SGD</a:t>
            </a:r>
            <a:r>
              <a:rPr lang="ru"/>
              <a:t> означає стохастичний градієнтний спуск: він повільніший, але більш контрольований і добре реплікується. </a:t>
            </a: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20800"/>
            <a:ext cx="2641574" cy="27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20800"/>
            <a:ext cx="2641575" cy="301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k-середніх</a:t>
            </a:r>
            <a:endParaRPr/>
          </a:p>
        </p:txBody>
      </p:sp>
      <p:sp>
        <p:nvSpPr>
          <p:cNvPr id="168" name="Google Shape;168;p23"/>
          <p:cNvSpPr txBox="1"/>
          <p:nvPr>
            <p:ph idx="4294967295" type="body"/>
          </p:nvPr>
        </p:nvSpPr>
        <p:spPr>
          <a:xfrm>
            <a:off x="3750216" y="1120806"/>
            <a:ext cx="38682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 kNN встановлена кількість сусідів </a:t>
            </a:r>
            <a:r>
              <a:rPr lang="ru">
                <a:solidFill>
                  <a:schemeClr val="accent1"/>
                </a:solidFill>
              </a:rPr>
              <a:t>k=4</a:t>
            </a:r>
            <a:r>
              <a:rPr lang="ru"/>
              <a:t>, що робить модель досить чутливою до локальних шумів, але не перенавчає її. Для вимірювання близькості використовується евклідова відстань, а параметр </a:t>
            </a:r>
            <a:r>
              <a:rPr lang="ru">
                <a:solidFill>
                  <a:schemeClr val="accent1"/>
                </a:solidFill>
              </a:rPr>
              <a:t>Weight=Uniform</a:t>
            </a:r>
            <a:r>
              <a:rPr lang="ru"/>
              <a:t> означає, що всі сусіди голосують однаково, незалежно від того, наскільки вони близькі до точки.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33888"/>
            <a:ext cx="27432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Дерево класів</a:t>
            </a:r>
            <a:endParaRPr/>
          </a:p>
        </p:txBody>
      </p:sp>
      <p:sp>
        <p:nvSpPr>
          <p:cNvPr id="175" name="Google Shape;175;p24"/>
          <p:cNvSpPr txBox="1"/>
          <p:nvPr>
            <p:ph idx="4294967295" type="body"/>
          </p:nvPr>
        </p:nvSpPr>
        <p:spPr>
          <a:xfrm>
            <a:off x="3750216" y="1120806"/>
            <a:ext cx="38682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Параметр </a:t>
            </a:r>
            <a:r>
              <a:rPr lang="ru">
                <a:solidFill>
                  <a:schemeClr val="accent1"/>
                </a:solidFill>
              </a:rPr>
              <a:t>Min. number of instances in leaves=25</a:t>
            </a:r>
            <a:r>
              <a:rPr lang="ru"/>
              <a:t> не дає дереву створювати надто дрібні листки, захищаючи його від перенавчання. Обмеження </a:t>
            </a:r>
            <a:r>
              <a:rPr lang="ru">
                <a:solidFill>
                  <a:schemeClr val="accent1"/>
                </a:solidFill>
              </a:rPr>
              <a:t>Do not split subsets smaller than 50</a:t>
            </a:r>
            <a:r>
              <a:rPr lang="ru"/>
              <a:t> забороняє робити нові розгалуження, якщо підмножина даних уже мала, що також зменшує шумові спліти. Додатково </a:t>
            </a:r>
            <a:r>
              <a:rPr lang="ru">
                <a:solidFill>
                  <a:schemeClr val="accent1"/>
                </a:solidFill>
              </a:rPr>
              <a:t>обмежено максимальну глибину дерева – 15</a:t>
            </a:r>
            <a:r>
              <a:rPr lang="ru"/>
              <a:t>, щоб модель не зростала безконтрольно у глибину.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Дерево класів</a:t>
            </a:r>
            <a:endParaRPr/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238346"/>
            <a:ext cx="7886700" cy="2666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Дерево класів</a:t>
            </a:r>
            <a:endParaRPr/>
          </a:p>
        </p:txBody>
      </p:sp>
      <p:sp>
        <p:nvSpPr>
          <p:cNvPr id="187" name="Google Shape;187;p26"/>
          <p:cNvSpPr txBox="1"/>
          <p:nvPr>
            <p:ph idx="4294967295" type="body"/>
          </p:nvPr>
        </p:nvSpPr>
        <p:spPr>
          <a:xfrm>
            <a:off x="628659" y="858550"/>
            <a:ext cx="78867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Ві</a:t>
            </a:r>
            <a:r>
              <a:rPr lang="ru"/>
              <a:t>зьмемо один об’єкт з вибірки і, згідно зі структурою дерева рішень, продивимось </a:t>
            </a:r>
            <a:r>
              <a:rPr lang="ru">
                <a:solidFill>
                  <a:schemeClr val="accent1"/>
                </a:solidFill>
              </a:rPr>
              <a:t>просування даного об’єкта від кореневого вузла до листа</a:t>
            </a:r>
            <a:r>
              <a:rPr lang="ru"/>
              <a:t>, в якому об’єкт буде класифікований, дотримуючись умов переходу, що визначають по якому із ребер йти. Візьмемо обʼєкт з рядка 48 нашої вибірки даних.</a:t>
            </a: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888" y="2508258"/>
            <a:ext cx="6412224" cy="229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Дерево класів</a:t>
            </a:r>
            <a:endParaRPr/>
          </a:p>
        </p:txBody>
      </p:sp>
      <p:sp>
        <p:nvSpPr>
          <p:cNvPr id="194" name="Google Shape;194;p27"/>
          <p:cNvSpPr txBox="1"/>
          <p:nvPr>
            <p:ph idx="4294967295" type="body"/>
          </p:nvPr>
        </p:nvSpPr>
        <p:spPr>
          <a:xfrm>
            <a:off x="628659" y="858550"/>
            <a:ext cx="78867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Першим беремо атрибут runtime. Він = 157, це &gt; 99, тому переходимо по правому ребру. Наступний атрибут – country_2683.0 (США): 0 (false) чи 1 (true). Він true, тому йдемо по правому ребру вниз. Наступний знову runtime. 157 &gt; 126, тому йдемо далі по правому ребру. Знову перевіряємо runtime – 157 &gt; 140 – переходимо по правому ребру і потрапляємо до результату: </a:t>
            </a:r>
            <a:r>
              <a:rPr lang="ru">
                <a:solidFill>
                  <a:schemeClr val="accent1"/>
                </a:solidFill>
              </a:rPr>
              <a:t>S tier</a:t>
            </a:r>
            <a:r>
              <a:rPr lang="ru"/>
              <a:t> (бюджет &gt; 100 мільйонів) з ймовірністю в </a:t>
            </a:r>
            <a:r>
              <a:rPr lang="ru">
                <a:solidFill>
                  <a:schemeClr val="accent1"/>
                </a:solidFill>
              </a:rPr>
              <a:t>27,3%</a:t>
            </a:r>
            <a:r>
              <a:rPr lang="ru"/>
              <a:t>. Бюджет цього фільму справді становить більше 100 мільйонів, отже, класифікацію виконано правильно.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Результати</a:t>
            </a: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858550"/>
            <a:ext cx="59436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Результати</a:t>
            </a:r>
            <a:endParaRPr/>
          </a:p>
        </p:txBody>
      </p:sp>
      <p:sp>
        <p:nvSpPr>
          <p:cNvPr id="206" name="Google Shape;206;p29"/>
          <p:cNvSpPr txBox="1"/>
          <p:nvPr>
            <p:ph idx="4294967295" type="body"/>
          </p:nvPr>
        </p:nvSpPr>
        <p:spPr>
          <a:xfrm>
            <a:off x="628659" y="858550"/>
            <a:ext cx="78867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Продивимось результати віджету </a:t>
            </a:r>
            <a:r>
              <a:rPr lang="ru">
                <a:solidFill>
                  <a:schemeClr val="accent1"/>
                </a:solidFill>
              </a:rPr>
              <a:t>Confusion Matrix</a:t>
            </a:r>
            <a:r>
              <a:rPr lang="ru"/>
              <a:t> для найкращої класифікаційної моделі (</a:t>
            </a:r>
            <a:r>
              <a:rPr lang="ru">
                <a:solidFill>
                  <a:schemeClr val="accent1"/>
                </a:solidFill>
              </a:rPr>
              <a:t>Linear Regression</a:t>
            </a:r>
            <a:r>
              <a:rPr lang="ru"/>
              <a:t>) при при параметрі Show = Number of Instances.  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125" y="1885950"/>
            <a:ext cx="5481750" cy="29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Матриці помилок</a:t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37" y="858550"/>
            <a:ext cx="3990758" cy="214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4" y="858550"/>
            <a:ext cx="3978839" cy="21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238" y="3001019"/>
            <a:ext cx="3990747" cy="214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95" y="3001019"/>
            <a:ext cx="3990758" cy="21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ROC-криві для класів F tier та D tier</a:t>
            </a:r>
            <a:endParaRPr/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33" y="1032550"/>
            <a:ext cx="4332167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32550"/>
            <a:ext cx="4332175" cy="24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ROC-криві для класів C tier та B tier</a:t>
            </a:r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33" y="1032550"/>
            <a:ext cx="4332167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32550"/>
            <a:ext cx="4332175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25" y="1032550"/>
            <a:ext cx="4332175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032550"/>
            <a:ext cx="4332159" cy="24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ROC-криві для класів A tier та S tier</a:t>
            </a:r>
            <a:endParaRPr/>
          </a:p>
        </p:txBody>
      </p:sp>
      <p:pic>
        <p:nvPicPr>
          <p:cNvPr id="238" name="Google Shape;2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33" y="1032550"/>
            <a:ext cx="4332167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32550"/>
            <a:ext cx="4332175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25" y="1032550"/>
            <a:ext cx="4332175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032550"/>
            <a:ext cx="4332159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9825" y="1032550"/>
            <a:ext cx="4332173" cy="24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1032550"/>
            <a:ext cx="4332182" cy="24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Висновки</a:t>
            </a:r>
            <a:endParaRPr/>
          </a:p>
        </p:txBody>
      </p:sp>
      <p:sp>
        <p:nvSpPr>
          <p:cNvPr id="249" name="Google Shape;249;p34"/>
          <p:cNvSpPr/>
          <p:nvPr/>
        </p:nvSpPr>
        <p:spPr>
          <a:xfrm>
            <a:off x="6888575" y="1254538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3984000" y="1254538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1079425" y="1254538"/>
            <a:ext cx="1122300" cy="1122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accent4"/>
              </a:gs>
              <a:gs pos="100000">
                <a:srgbClr val="FF9900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617725" y="2450450"/>
            <a:ext cx="2045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Було проведено моделювання задачі </a:t>
            </a:r>
            <a:r>
              <a:rPr lang="ru" sz="1800">
                <a:solidFill>
                  <a:schemeClr val="accent1"/>
                </a:solidFill>
              </a:rPr>
              <a:t>класифікації засобами пакета Orange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3522300" y="2450450"/>
            <a:ext cx="20457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Для того, щоб виконати класифікацію, була сформована </a:t>
            </a:r>
            <a:r>
              <a:rPr lang="ru" sz="1800">
                <a:solidFill>
                  <a:schemeClr val="accent1"/>
                </a:solidFill>
              </a:rPr>
              <a:t>навчальна вибірка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6373175" y="2450450"/>
            <a:ext cx="2153100" cy="1122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sz="1800"/>
              <a:t>Алгоритм </a:t>
            </a:r>
            <a:r>
              <a:rPr lang="ru" sz="1800">
                <a:solidFill>
                  <a:schemeClr val="accent1"/>
                </a:solidFill>
              </a:rPr>
              <a:t>логістичної регресії </a:t>
            </a:r>
            <a:r>
              <a:rPr lang="ru" sz="1800"/>
              <a:t>продемонстрував найкращий результат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628650" y="273844"/>
            <a:ext cx="7886700" cy="5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Висновки</a:t>
            </a:r>
            <a:endParaRPr/>
          </a:p>
        </p:txBody>
      </p:sp>
      <p:sp>
        <p:nvSpPr>
          <p:cNvPr id="260" name="Google Shape;260;p35"/>
          <p:cNvSpPr txBox="1"/>
          <p:nvPr>
            <p:ph idx="4294967295" type="body"/>
          </p:nvPr>
        </p:nvSpPr>
        <p:spPr>
          <a:xfrm>
            <a:off x="628659" y="858550"/>
            <a:ext cx="7886700" cy="276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</a:t>
            </a:r>
            <a:r>
              <a:rPr lang="ru"/>
              <a:t> ході роботи було виконано класифікацію даних у середовищі Orange, підібрано оптимальні параметри для 4-х алгоритмів та порівняно їх якість. Найкращі результати показала </a:t>
            </a:r>
            <a:r>
              <a:rPr lang="ru">
                <a:solidFill>
                  <a:schemeClr val="accent1"/>
                </a:solidFill>
              </a:rPr>
              <a:t>логістична регресія</a:t>
            </a:r>
            <a:r>
              <a:rPr lang="ru"/>
              <a:t>, тоді як </a:t>
            </a:r>
            <a:r>
              <a:rPr lang="ru">
                <a:solidFill>
                  <a:schemeClr val="accent1"/>
                </a:solidFill>
              </a:rPr>
              <a:t>kNN</a:t>
            </a:r>
            <a:r>
              <a:rPr lang="ru"/>
              <a:t> мав найнижчу точність, але забезпечив більш збалансоване розпізнавання класів. Загальний рівень </a:t>
            </a:r>
            <a:r>
              <a:rPr lang="ru">
                <a:solidFill>
                  <a:schemeClr val="accent1"/>
                </a:solidFill>
              </a:rPr>
              <a:t>AUC (62,5-69%)</a:t>
            </a:r>
            <a:r>
              <a:rPr lang="ru"/>
              <a:t> виявився невисоким через специфіку даних: жанр, країна, студія та тривалість фільму слабко пов’язані з бюджетом, тому моделі не можуть сформувати стійкі залежності.</a:t>
            </a:r>
            <a:endParaRPr/>
          </a:p>
        </p:txBody>
      </p:sp>
      <p:sp>
        <p:nvSpPr>
          <p:cNvPr id="261" name="Google Shape;261;p35"/>
          <p:cNvSpPr txBox="1"/>
          <p:nvPr>
            <p:ph idx="4294967295" type="body"/>
          </p:nvPr>
        </p:nvSpPr>
        <p:spPr>
          <a:xfrm>
            <a:off x="628650" y="3285500"/>
            <a:ext cx="7886700" cy="185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Аналіз ROC-кривих і матриць помилок показав, що найкраще прогнозуються крайні класи – </a:t>
            </a:r>
            <a:r>
              <a:rPr lang="ru">
                <a:solidFill>
                  <a:schemeClr val="accent1"/>
                </a:solidFill>
              </a:rPr>
              <a:t>S tier та F tier</a:t>
            </a:r>
            <a:r>
              <a:rPr lang="ru"/>
              <a:t>, де закономірності чіткіші. Натомість середні класи – </a:t>
            </a:r>
            <a:r>
              <a:rPr lang="ru">
                <a:solidFill>
                  <a:schemeClr val="accent1"/>
                </a:solidFill>
              </a:rPr>
              <a:t>C та D tier</a:t>
            </a:r>
            <a:r>
              <a:rPr lang="ru"/>
              <a:t> – визначаються значно гірше через широкий роздріб значень та майже відсутні кореляції.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ctrTitle"/>
          </p:nvPr>
        </p:nvSpPr>
        <p:spPr>
          <a:xfrm>
            <a:off x="613806" y="993183"/>
            <a:ext cx="44718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Дякую за 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увагу!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3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9B810"/>
      </a:accent1>
      <a:accent2>
        <a:srgbClr val="6C7074"/>
      </a:accent2>
      <a:accent3>
        <a:srgbClr val="BBA894"/>
      </a:accent3>
      <a:accent4>
        <a:srgbClr val="FFC000"/>
      </a:accent4>
      <a:accent5>
        <a:srgbClr val="8B653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